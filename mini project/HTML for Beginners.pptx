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9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8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2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3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5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9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9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9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43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3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8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2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29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84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87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5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A3999E-89A2-4B13-B86A-3862DBB32611}" type="datetimeFigureOut">
              <a:rPr lang="en-US" smtClean="0"/>
              <a:t>16-Oct-22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A36A24-D9EF-4331-8643-EC1B1CFA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4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ECD-6664-5945-ECC2-584F8AA09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</a:rPr>
              <a:t>HTML</a:t>
            </a:r>
            <a:r>
              <a:rPr lang="en-US" dirty="0"/>
              <a:t> for Beginners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4EB89-06AD-7C16-4AC6-C24DEA9951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Basic To Advance </a:t>
            </a:r>
            <a:r>
              <a:rPr lang="en-US" dirty="0"/>
              <a:t>By Pranjal(</a:t>
            </a:r>
            <a:r>
              <a:rPr lang="en-US" dirty="0" err="1"/>
              <a:t>pravarti</a:t>
            </a:r>
            <a:r>
              <a:rPr lang="en-US" dirty="0"/>
              <a:t> tech)</a:t>
            </a:r>
          </a:p>
          <a:p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9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A470-8771-1170-683F-441E2770E014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sz="7200" b="1" u="sng" dirty="0">
                <a:latin typeface="Algerian" panose="04020705040A02060702" pitchFamily="82" charset="0"/>
              </a:rPr>
              <a:t>What is </a:t>
            </a:r>
            <a:r>
              <a:rPr lang="en-US" sz="7200" b="1" u="sng" dirty="0" err="1">
                <a:latin typeface="Algerian" panose="04020705040A02060702" pitchFamily="82" charset="0"/>
              </a:rPr>
              <a:t>HTml</a:t>
            </a:r>
            <a:r>
              <a:rPr lang="en-US" sz="7200" b="1" u="sng" dirty="0">
                <a:latin typeface="Algerian" panose="04020705040A02060702" pitchFamily="82" charset="0"/>
              </a:rPr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29ED-D1D9-E258-B01A-3E85442219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96313" y="2597968"/>
            <a:ext cx="10394707" cy="3311189"/>
          </a:xfrm>
          <a:noFill/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stands for Hyper Text Markup Language 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is the standard markup language for creating Web pages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describes the structure of a Web page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48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FE74E3-EF89-B5FD-575B-6650DB96E041}"/>
              </a:ext>
            </a:extLst>
          </p:cNvPr>
          <p:cNvSpPr txBox="1"/>
          <p:nvPr/>
        </p:nvSpPr>
        <p:spPr>
          <a:xfrm>
            <a:off x="2426677" y="457201"/>
            <a:ext cx="794824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000000"/>
                </a:solidFill>
                <a:effectLst/>
                <a:latin typeface="Algerian" panose="04020705040A02060702" pitchFamily="82" charset="0"/>
              </a:rPr>
              <a:t>A Simple HTML Document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E0CC4-F3A1-DB81-BF66-FEC68C4EABFA}"/>
              </a:ext>
            </a:extLst>
          </p:cNvPr>
          <p:cNvSpPr txBox="1"/>
          <p:nvPr/>
        </p:nvSpPr>
        <p:spPr>
          <a:xfrm>
            <a:off x="1786597" y="1716258"/>
            <a:ext cx="993179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!DOCTYPE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html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defines that this document is an HTML5 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html</a:t>
            </a:r>
            <a:r>
              <a:rPr lang="en-US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              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root element of an HTML page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head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contains meta information about the HTML page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title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Page Title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/title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specifies a title for the HTML page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/head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body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defines the document's body</a:t>
            </a:r>
            <a:b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h1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My First Heading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/h1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defines a large heading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My first paragraph.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/p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defines a paragraph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/body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</a:t>
            </a:r>
            <a:r>
              <a:rPr lang="en-US" sz="2000" i="0" dirty="0"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  <a:t>close body tag          </a:t>
            </a:r>
            <a:br>
              <a:rPr lang="en-US" sz="2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&lt;</a:t>
            </a:r>
            <a:r>
              <a:rPr lang="en-US" sz="2400" b="1" i="0" dirty="0">
                <a:solidFill>
                  <a:srgbClr val="A52A2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/html</a:t>
            </a:r>
            <a:r>
              <a:rPr lang="en-US" sz="2400" b="1" i="0" dirty="0">
                <a:solidFill>
                  <a:srgbClr val="0000CD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&gt;              </a:t>
            </a:r>
            <a:r>
              <a:rPr lang="en-US" sz="2000" i="0" dirty="0">
                <a:effectLst/>
                <a:latin typeface="Adobe Devanagari" panose="02040503050201020203" pitchFamily="18" charset="0"/>
                <a:cs typeface="Adobe Devanagari" panose="02040503050201020203" pitchFamily="18" charset="0"/>
              </a:rPr>
              <a:t>close html tag</a:t>
            </a:r>
            <a:endParaRPr lang="en-US" sz="20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B1A05C-CFC6-2BE5-8AD4-B60FBB8232C0}"/>
              </a:ext>
            </a:extLst>
          </p:cNvPr>
          <p:cNvCxnSpPr/>
          <p:nvPr/>
        </p:nvCxnSpPr>
        <p:spPr>
          <a:xfrm>
            <a:off x="4487594" y="1955409"/>
            <a:ext cx="562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0C14CD-733A-4A1F-0976-44BCDD82B306}"/>
              </a:ext>
            </a:extLst>
          </p:cNvPr>
          <p:cNvCxnSpPr>
            <a:cxnSpLocks/>
          </p:cNvCxnSpPr>
          <p:nvPr/>
        </p:nvCxnSpPr>
        <p:spPr>
          <a:xfrm>
            <a:off x="3348110" y="2293034"/>
            <a:ext cx="113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B165A3-6F84-2B76-99C9-492259E3170C}"/>
              </a:ext>
            </a:extLst>
          </p:cNvPr>
          <p:cNvCxnSpPr>
            <a:cxnSpLocks/>
          </p:cNvCxnSpPr>
          <p:nvPr/>
        </p:nvCxnSpPr>
        <p:spPr>
          <a:xfrm>
            <a:off x="3481754" y="2686929"/>
            <a:ext cx="1083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0A1F62-4E52-3E84-6141-C20170137477}"/>
              </a:ext>
            </a:extLst>
          </p:cNvPr>
          <p:cNvCxnSpPr/>
          <p:nvPr/>
        </p:nvCxnSpPr>
        <p:spPr>
          <a:xfrm>
            <a:off x="5275385" y="3066757"/>
            <a:ext cx="661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36DB4D-0CAA-B10E-8FA3-C4DE9275B4EB}"/>
              </a:ext>
            </a:extLst>
          </p:cNvPr>
          <p:cNvCxnSpPr/>
          <p:nvPr/>
        </p:nvCxnSpPr>
        <p:spPr>
          <a:xfrm>
            <a:off x="3214468" y="3770142"/>
            <a:ext cx="5345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6DA7F6-68DD-8F6B-B7FB-0ACA0F1CFA46}"/>
              </a:ext>
            </a:extLst>
          </p:cNvPr>
          <p:cNvCxnSpPr/>
          <p:nvPr/>
        </p:nvCxnSpPr>
        <p:spPr>
          <a:xfrm>
            <a:off x="5824025" y="4431323"/>
            <a:ext cx="703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FF1AFD-A196-B865-B8A7-E5574900F792}"/>
              </a:ext>
            </a:extLst>
          </p:cNvPr>
          <p:cNvCxnSpPr/>
          <p:nvPr/>
        </p:nvCxnSpPr>
        <p:spPr>
          <a:xfrm>
            <a:off x="6096000" y="4825218"/>
            <a:ext cx="431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74B28C-6980-9113-7C78-D96F37B0E962}"/>
              </a:ext>
            </a:extLst>
          </p:cNvPr>
          <p:cNvCxnSpPr/>
          <p:nvPr/>
        </p:nvCxnSpPr>
        <p:spPr>
          <a:xfrm>
            <a:off x="7779434" y="651334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00FABA-B927-54B3-04FB-0C7D97742236}"/>
              </a:ext>
            </a:extLst>
          </p:cNvPr>
          <p:cNvCxnSpPr>
            <a:cxnSpLocks/>
          </p:cNvCxnSpPr>
          <p:nvPr/>
        </p:nvCxnSpPr>
        <p:spPr>
          <a:xfrm>
            <a:off x="3348110" y="5542671"/>
            <a:ext cx="569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4AAF7E-CC04-E2FD-AAFF-71E47471921B}"/>
              </a:ext>
            </a:extLst>
          </p:cNvPr>
          <p:cNvCxnSpPr/>
          <p:nvPr/>
        </p:nvCxnSpPr>
        <p:spPr>
          <a:xfrm>
            <a:off x="3214468" y="5894363"/>
            <a:ext cx="703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57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0516-FD22-0CC4-B7BD-7D33F6D69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43" y="348176"/>
            <a:ext cx="10018713" cy="1752599"/>
          </a:xfrm>
        </p:spPr>
        <p:txBody>
          <a:bodyPr>
            <a:noAutofit/>
          </a:bodyPr>
          <a:lstStyle/>
          <a:p>
            <a:r>
              <a:rPr lang="en-US" sz="6000" b="1" u="sng" dirty="0">
                <a:solidFill>
                  <a:srgbClr val="000000"/>
                </a:solidFill>
                <a:effectLst/>
                <a:latin typeface="Copperplate Gothic Bold" panose="020E0705020206020404" pitchFamily="34" charset="0"/>
              </a:rPr>
              <a:t>HTML Headings</a:t>
            </a:r>
            <a:br>
              <a:rPr lang="en-US" sz="6000" b="1" u="sng" dirty="0">
                <a:solidFill>
                  <a:srgbClr val="000000"/>
                </a:solidFill>
                <a:effectLst/>
                <a:latin typeface="Copperplate Gothic Bold" panose="020E0705020206020404" pitchFamily="34" charset="0"/>
              </a:rPr>
            </a:br>
            <a:endParaRPr lang="en-US" sz="6000" b="1" u="sng" dirty="0">
              <a:latin typeface="Copperplate Gothic Bold" panose="020E07050202060204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DF6DF8-4921-D28D-EF39-045921E3D5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072" y="2173685"/>
            <a:ext cx="3380192" cy="3785652"/>
          </a:xfr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E7F3588-8E2A-A13A-3199-64E036E58C1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63917" y="2438399"/>
            <a:ext cx="4832083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headings are defined with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&lt;h6&gt;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tags.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defines the most important heading.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&lt;h6&gt;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defines the least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important heading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428A8-1CB6-C5B7-6340-65831E343724}"/>
              </a:ext>
            </a:extLst>
          </p:cNvPr>
          <p:cNvSpPr txBox="1"/>
          <p:nvPr/>
        </p:nvSpPr>
        <p:spPr>
          <a:xfrm>
            <a:off x="8700655" y="2173685"/>
            <a:ext cx="2992581" cy="3785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             36px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            30px</a:t>
            </a:r>
          </a:p>
          <a:p>
            <a:endParaRPr lang="en-US" sz="2000" dirty="0"/>
          </a:p>
          <a:p>
            <a:r>
              <a:rPr lang="en-US" sz="2000" dirty="0"/>
              <a:t>             24px</a:t>
            </a:r>
          </a:p>
          <a:p>
            <a:endParaRPr lang="en-US" sz="2000" dirty="0"/>
          </a:p>
          <a:p>
            <a:r>
              <a:rPr lang="en-US" sz="2000" dirty="0"/>
              <a:t>             18px</a:t>
            </a:r>
          </a:p>
          <a:p>
            <a:endParaRPr lang="en-US" sz="2000" dirty="0"/>
          </a:p>
          <a:p>
            <a:r>
              <a:rPr lang="en-US" sz="2000" dirty="0"/>
              <a:t>             14px</a:t>
            </a:r>
          </a:p>
          <a:p>
            <a:endParaRPr lang="en-US" sz="2000" dirty="0"/>
          </a:p>
          <a:p>
            <a:r>
              <a:rPr lang="en-US" sz="2000" dirty="0"/>
              <a:t>              12px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74AAB0-5132-644F-C710-AEFC186DCB5D}"/>
              </a:ext>
            </a:extLst>
          </p:cNvPr>
          <p:cNvCxnSpPr>
            <a:cxnSpLocks/>
          </p:cNvCxnSpPr>
          <p:nvPr/>
        </p:nvCxnSpPr>
        <p:spPr>
          <a:xfrm flipV="1">
            <a:off x="8852736" y="2438399"/>
            <a:ext cx="443664" cy="96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C73C17-3434-B3E3-E922-C1832311B790}"/>
              </a:ext>
            </a:extLst>
          </p:cNvPr>
          <p:cNvCxnSpPr>
            <a:cxnSpLocks/>
          </p:cNvCxnSpPr>
          <p:nvPr/>
        </p:nvCxnSpPr>
        <p:spPr>
          <a:xfrm>
            <a:off x="8340436" y="3318164"/>
            <a:ext cx="747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D4A800-B1C3-8566-AF12-89D98DEFFD55}"/>
              </a:ext>
            </a:extLst>
          </p:cNvPr>
          <p:cNvCxnSpPr/>
          <p:nvPr/>
        </p:nvCxnSpPr>
        <p:spPr>
          <a:xfrm>
            <a:off x="8007927" y="3961893"/>
            <a:ext cx="844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EB6CEE-3124-373A-30D9-7683534DC436}"/>
              </a:ext>
            </a:extLst>
          </p:cNvPr>
          <p:cNvCxnSpPr/>
          <p:nvPr/>
        </p:nvCxnSpPr>
        <p:spPr>
          <a:xfrm>
            <a:off x="7564582" y="4530436"/>
            <a:ext cx="15236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255F0C-F233-D464-711C-FFDBC7F1FAA8}"/>
              </a:ext>
            </a:extLst>
          </p:cNvPr>
          <p:cNvCxnSpPr>
            <a:cxnSpLocks/>
          </p:cNvCxnSpPr>
          <p:nvPr/>
        </p:nvCxnSpPr>
        <p:spPr>
          <a:xfrm>
            <a:off x="7426036" y="5126182"/>
            <a:ext cx="1648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8AC0A1-D274-8D78-8EF2-DCA4B71BD81E}"/>
              </a:ext>
            </a:extLst>
          </p:cNvPr>
          <p:cNvCxnSpPr/>
          <p:nvPr/>
        </p:nvCxnSpPr>
        <p:spPr>
          <a:xfrm>
            <a:off x="7135091" y="5721927"/>
            <a:ext cx="2161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9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E2D36D-1E54-F692-86E2-4A1096F52191}"/>
              </a:ext>
            </a:extLst>
          </p:cNvPr>
          <p:cNvSpPr txBox="1"/>
          <p:nvPr/>
        </p:nvSpPr>
        <p:spPr>
          <a:xfrm>
            <a:off x="4360986" y="3429000"/>
            <a:ext cx="6800038" cy="678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C6A664-AFCC-189A-7BCF-179E51ADB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005" y="394031"/>
            <a:ext cx="9194019" cy="14721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pperplate Gothic Bold" panose="020E0705020206020404" pitchFamily="34" charset="0"/>
                <a:cs typeface="Segoe UI" panose="020B0502040204020203" pitchFamily="34" charset="0"/>
              </a:rPr>
              <a:t>HTML Paragraphs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HTML paragraphs are defined with the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&lt;p&gt;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tag: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9B8312B-2B5B-8EF4-FD19-0018800A3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005" y="2048838"/>
            <a:ext cx="9194019" cy="15952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lgerian" panose="04020705040A02060702" pitchFamily="82" charset="0"/>
                <a:cs typeface="Segoe UI" panose="020B0502040204020203" pitchFamily="34" charset="0"/>
              </a:rPr>
              <a:t>HTML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HTML links are defined with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&lt;a&gt;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anchor tag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C9A682D-6D78-5F4B-ACFB-5B0295FCD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004" y="3855649"/>
            <a:ext cx="9194019" cy="2272360"/>
          </a:xfrm>
          <a:prstGeom prst="rect">
            <a:avLst/>
          </a:prstGeom>
          <a:gradFill>
            <a:gsLst>
              <a:gs pos="69375">
                <a:srgbClr val="A8DDF7"/>
              </a:gs>
              <a:gs pos="64750">
                <a:srgbClr val="ADDFF7"/>
              </a:gs>
              <a:gs pos="55500">
                <a:srgbClr val="B7E3F8"/>
              </a:gs>
              <a:gs pos="37000">
                <a:srgbClr val="CCEBFA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HTML images are defined with the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The source file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), alternative text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),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                                 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are provided as attributes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90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8ADA1FAC-631B-39CB-4C47-017834E7E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828" y="613143"/>
            <a:ext cx="9448481" cy="66889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HTML Line Breaks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HTML element defines a line break.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if you want a line break (a new line) without starting a new paragraph: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HTML Horizontal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tag defines a thematic break in an HTML page, and is most often displayed as a horizontal rule.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is used to separate content (or define a change) in an HTML page: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  </a:t>
            </a:r>
            <a:r>
              <a:rPr kumimoji="0" lang="en-US" altLang="en-US" sz="40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HTML &lt;pre&gt;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HTML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&lt;pre&gt;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defines preformatted text.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text inside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&lt;pre&gt;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is displayed in a fixed-width font (usually Courier), and it preserves both spaces and line breaks: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2B73D-2C6D-5E1F-2695-181FF5BF1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"/>
            <a:ext cx="65" cy="456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28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E38D7-D0C4-06A1-C3CB-EED0F4963C33}"/>
              </a:ext>
            </a:extLst>
          </p:cNvPr>
          <p:cNvSpPr txBox="1"/>
          <p:nvPr/>
        </p:nvSpPr>
        <p:spPr>
          <a:xfrm>
            <a:off x="2200218" y="0"/>
            <a:ext cx="961428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lgerian" panose="04020705040A02060702" pitchFamily="82" charset="0"/>
                <a:cs typeface="Segoe UI" panose="020B0502040204020203" pitchFamily="34" charset="0"/>
              </a:rPr>
              <a:t>The HTML Style Attribute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Setting the style of an HTML element, can be done with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attribute.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HTML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attribute has the following syntax: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tagname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erpetua Titling MT" panose="02020502060505020804" pitchFamily="18" charset="0"/>
                <a:cs typeface="Segoe UI" panose="020B0502040204020203" pitchFamily="34" charset="0"/>
              </a:rPr>
              <a:t>Background Color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CSS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defines the background color for an HTML element.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lgerian" panose="04020705040A02060702" pitchFamily="82" charset="0"/>
                <a:cs typeface="Segoe UI" panose="020B0502040204020203" pitchFamily="34" charset="0"/>
              </a:rPr>
              <a:t>              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lgerian" panose="04020705040A02060702" pitchFamily="82" charset="0"/>
                <a:cs typeface="Segoe UI" panose="020B0502040204020203" pitchFamily="34" charset="0"/>
              </a:rPr>
              <a:t>Text Color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CSS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defines the text color for an HTML element: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erpetua Titling MT" panose="02020502060505020804" pitchFamily="18" charset="0"/>
                <a:cs typeface="Segoe UI" panose="020B0502040204020203" pitchFamily="34" charset="0"/>
              </a:rPr>
              <a:t>           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erpetua Titling MT" panose="02020502060505020804" pitchFamily="18" charset="0"/>
                <a:cs typeface="Segoe UI" panose="020B0502040204020203" pitchFamily="34" charset="0"/>
              </a:rPr>
              <a:t>Fonts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CSS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defines the font to be used for an HTML 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i="0" u="sng" dirty="0">
                <a:solidFill>
                  <a:srgbClr val="000000"/>
                </a:solidFill>
                <a:effectLst/>
                <a:latin typeface="Algerian" panose="04020705040A02060702" pitchFamily="82" charset="0"/>
              </a:rPr>
              <a:t>Text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="font-size:300%;"&gt;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heading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="font-size:160%;"&gt;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paragraph.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i="0" u="sng" dirty="0">
                <a:solidFill>
                  <a:srgbClr val="000000"/>
                </a:solidFill>
                <a:effectLst/>
                <a:latin typeface="Perpetua Titling MT" panose="02020502060505020804" pitchFamily="18" charset="0"/>
              </a:rPr>
              <a:t>Text Alignment</a:t>
            </a:r>
          </a:p>
          <a:p>
            <a:pPr algn="l"/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6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text-align:center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Centered Heading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6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text-align:center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Centered paragraph.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dirty="0"/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 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058746-2F95-B984-D2F4-831E5D8D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"/>
            <a:ext cx="65" cy="456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4390AF-27BE-A7CD-C78C-E60FCA6FF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"/>
            <a:ext cx="65" cy="456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4560803-47BF-1DBA-2897-873518FAE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"/>
            <a:ext cx="65" cy="456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7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B53C9-0343-2F25-BA0A-C09FE0C8DCA3}"/>
              </a:ext>
            </a:extLst>
          </p:cNvPr>
          <p:cNvSpPr txBox="1"/>
          <p:nvPr/>
        </p:nvSpPr>
        <p:spPr>
          <a:xfrm>
            <a:off x="2002974" y="210026"/>
            <a:ext cx="10392226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erpetua Titling MT" panose="02020502060505020804" pitchFamily="18" charset="0"/>
                <a:cs typeface="Segoe UI" panose="020B0502040204020203" pitchFamily="34" charset="0"/>
              </a:rPr>
              <a:t>HTML Formatting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Formatting elements were designed to display special types of text: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Bold text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&lt;strong&gt;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Important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Italic text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Emphasized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&lt;mark&gt;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Marked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&lt;small&gt;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Smaller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&lt;del&gt;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Deleted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&lt;ins&gt;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Inserted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&lt;sub&gt;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Subscript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&lt;sup&gt;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Superscript text</a:t>
            </a: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869963-41EB-C3C0-2EDA-1F0D2AD55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5" y="1654989"/>
            <a:ext cx="65" cy="4564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8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99DF9-5D54-70F7-7D79-A8ECEFA693BD}"/>
              </a:ext>
            </a:extLst>
          </p:cNvPr>
          <p:cNvSpPr txBox="1"/>
          <p:nvPr/>
        </p:nvSpPr>
        <p:spPr>
          <a:xfrm>
            <a:off x="2008908" y="789709"/>
            <a:ext cx="9421091" cy="527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07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292</TotalTime>
  <Words>611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Adobe Devanagari</vt:lpstr>
      <vt:lpstr>Aharoni</vt:lpstr>
      <vt:lpstr>Algerian</vt:lpstr>
      <vt:lpstr>Arial</vt:lpstr>
      <vt:lpstr>Berlin Sans FB Demi</vt:lpstr>
      <vt:lpstr>Consolas</vt:lpstr>
      <vt:lpstr>Copperplate Gothic Bold</vt:lpstr>
      <vt:lpstr>Corbel</vt:lpstr>
      <vt:lpstr>Perpetua Titling MT</vt:lpstr>
      <vt:lpstr>Segoe UI</vt:lpstr>
      <vt:lpstr>Times New Roman</vt:lpstr>
      <vt:lpstr>Verdana</vt:lpstr>
      <vt:lpstr>Parallax</vt:lpstr>
      <vt:lpstr>HTML for Beginners</vt:lpstr>
      <vt:lpstr>What is HTml ?</vt:lpstr>
      <vt:lpstr>PowerPoint Presentation</vt:lpstr>
      <vt:lpstr>HTML Headings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 Beginners</dc:title>
  <dc:creator>pranjal chakravarti</dc:creator>
  <cp:lastModifiedBy>pranjal chakravarti</cp:lastModifiedBy>
  <cp:revision>5</cp:revision>
  <dcterms:created xsi:type="dcterms:W3CDTF">2022-08-28T16:13:26Z</dcterms:created>
  <dcterms:modified xsi:type="dcterms:W3CDTF">2022-10-16T08:20:46Z</dcterms:modified>
</cp:coreProperties>
</file>